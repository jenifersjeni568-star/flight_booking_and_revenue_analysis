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Lato Bold" charset="1" panose="020F0502020204030203"/>
      <p:regular r:id="rId23"/>
    </p:embeddedFont>
    <p:embeddedFont>
      <p:font typeface="Montserrat Bold" charset="1" panose="00000800000000000000"/>
      <p:regular r:id="rId24"/>
    </p:embeddedFont>
    <p:embeddedFont>
      <p:font typeface="Lato" charset="1" panose="020F0502020204030203"/>
      <p:regular r:id="rId25"/>
    </p:embeddedFont>
    <p:embeddedFont>
      <p:font typeface="IBM Plex Mono Bold" charset="1" panose="020B0809050203000203"/>
      <p:regular r:id="rId26"/>
    </p:embeddedFont>
    <p:embeddedFont>
      <p:font typeface="Montserrat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109537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6C4CFF"/>
                </a:solidFill>
                <a:latin typeface="Lato Bold"/>
                <a:ea typeface="Lato Bold"/>
                <a:cs typeface="Lato Bold"/>
                <a:sym typeface="Lato Bold"/>
              </a:rPr>
              <a:t>From 2025 to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2038350"/>
            <a:ext cx="8572500" cy="142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0"/>
              </a:lnSpc>
            </a:pPr>
            <a:r>
              <a:rPr lang="en-US" sz="8400" spc="-420" b="true">
                <a:solidFill>
                  <a:srgbClr val="0D1B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SKYBOOK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3648075"/>
            <a:ext cx="7239000" cy="997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8"/>
              </a:lnSpc>
            </a:pPr>
            <a:r>
              <a:rPr lang="en-US" sz="3525" b="true">
                <a:solidFill>
                  <a:srgbClr val="6C4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Flight Booking &amp;</a:t>
            </a:r>
          </a:p>
          <a:p>
            <a:pPr algn="l">
              <a:lnSpc>
                <a:spcPts val="3948"/>
              </a:lnSpc>
            </a:pPr>
            <a:r>
              <a:rPr lang="en-US" sz="3525" b="true">
                <a:solidFill>
                  <a:srgbClr val="6C4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Analytics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4905375"/>
            <a:ext cx="6191250" cy="32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66728F"/>
                </a:solidFill>
                <a:latin typeface="Lato"/>
                <a:ea typeface="Lato"/>
                <a:cs typeface="Lato"/>
                <a:sym typeface="Lato"/>
              </a:rPr>
              <a:t>End-to-End Cloud-Based Flight Analytics Implementation</a:t>
            </a:r>
          </a:p>
        </p:txBody>
      </p:sp>
      <p:sp>
        <p:nvSpPr>
          <p:cNvPr name="AutoShape 6" id="6"/>
          <p:cNvSpPr/>
          <p:nvPr/>
        </p:nvSpPr>
        <p:spPr>
          <a:xfrm>
            <a:off x="952500" y="6753225"/>
            <a:ext cx="3357571" cy="0"/>
          </a:xfrm>
          <a:prstGeom prst="line">
            <a:avLst/>
          </a:prstGeom>
          <a:ln cap="rnd" w="66675">
            <a:solidFill>
              <a:srgbClr val="6C4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952500" y="7086600"/>
            <a:ext cx="3810000" cy="87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474" b="true">
                <a:solidFill>
                  <a:srgbClr val="17213B"/>
                </a:solidFill>
                <a:latin typeface="Lato Bold"/>
                <a:ea typeface="Lato Bold"/>
                <a:cs typeface="Lato Bold"/>
                <a:sym typeface="Lato Bold"/>
              </a:rPr>
              <a:t>PRESENTED BY</a:t>
            </a:r>
          </a:p>
          <a:p>
            <a:pPr algn="l">
              <a:lnSpc>
                <a:spcPts val="3588"/>
              </a:lnSpc>
            </a:pPr>
            <a:r>
              <a:rPr lang="en-US" sz="2474" b="true">
                <a:solidFill>
                  <a:srgbClr val="17213B"/>
                </a:solidFill>
                <a:latin typeface="Lato Bold"/>
                <a:ea typeface="Lato Bold"/>
                <a:cs typeface="Lato Bold"/>
                <a:sym typeface="Lato Bold"/>
              </a:rPr>
              <a:t>Jenifer 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191500" y="0"/>
            <a:ext cx="10096500" cy="10287000"/>
          </a:xfrm>
          <a:custGeom>
            <a:avLst/>
            <a:gdLst/>
            <a:ahLst/>
            <a:cxnLst/>
            <a:rect r="r" b="b" t="t" l="l"/>
            <a:pathLst>
              <a:path h="10287000" w="10096500">
                <a:moveTo>
                  <a:pt x="0" y="0"/>
                </a:moveTo>
                <a:lnTo>
                  <a:pt x="10096500" y="0"/>
                </a:lnTo>
                <a:lnTo>
                  <a:pt x="10096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566" t="0" r="-40566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7000877" y="23813"/>
            <a:ext cx="4762500" cy="10287000"/>
            <a:chOff x="0" y="0"/>
            <a:chExt cx="6350000" cy="137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7FC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35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28623" y="1428750"/>
            <a:ext cx="114300" cy="5334000"/>
            <a:chOff x="0" y="0"/>
            <a:chExt cx="152400" cy="7112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4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785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24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6197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6C4CFF"/>
                </a:solidFill>
                <a:latin typeface="Lato Bold"/>
                <a:ea typeface="Lato Bold"/>
                <a:cs typeface="Lato Bold"/>
                <a:sym typeface="Lato Bold"/>
              </a:rPr>
              <a:t>01 /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0965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721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28650"/>
            <a:ext cx="76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6C4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AutoShape 5" id="5"/>
          <p:cNvSpPr/>
          <p:nvPr/>
        </p:nvSpPr>
        <p:spPr>
          <a:xfrm>
            <a:off x="952500" y="1809750"/>
            <a:ext cx="16383000" cy="0"/>
          </a:xfrm>
          <a:prstGeom prst="line">
            <a:avLst/>
          </a:prstGeom>
          <a:ln cap="flat" w="19050">
            <a:solidFill>
              <a:srgbClr val="D8DE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52500" y="2190750"/>
            <a:ext cx="10001250" cy="69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1974">
                <a:solidFill>
                  <a:srgbClr val="66728F"/>
                </a:solidFill>
                <a:latin typeface="Lato"/>
                <a:ea typeface="Lato"/>
                <a:cs typeface="Lato"/>
                <a:sym typeface="Lato"/>
              </a:rPr>
              <a:t>SkyBook transforms flight booking data into meaningful business insights using AWS, SQL and Microsoft Power BI.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4067175"/>
            <a:ext cx="2857500" cy="25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549" spc="185" b="true">
                <a:solidFill>
                  <a:srgbClr val="6C4CFF"/>
                </a:solidFill>
                <a:latin typeface="Lato Bold"/>
                <a:ea typeface="Lato Bold"/>
                <a:cs typeface="Lato Bold"/>
                <a:sym typeface="Lato Bold"/>
              </a:rPr>
              <a:t>FOCUS AREAS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4486275"/>
            <a:ext cx="14287500" cy="700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17213B"/>
                </a:solidFill>
                <a:latin typeface="Lato"/>
                <a:ea typeface="Lato"/>
                <a:cs typeface="Lato"/>
                <a:sym typeface="Lato"/>
              </a:rPr>
              <a:t>Booking volume  •  Revenue  •  Airline performance  •  Routes  •  Fares</a:t>
            </a: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17213B"/>
                </a:solidFill>
                <a:latin typeface="Lato"/>
                <a:ea typeface="Lato"/>
                <a:cs typeface="Lato"/>
                <a:sym typeface="Lato"/>
              </a:rPr>
              <a:t>Passenger info  •  Payment methods  •  Booking status  •  Monthly trends  •  City revenue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2500" y="7143750"/>
            <a:ext cx="3143250" cy="1428750"/>
            <a:chOff x="0" y="0"/>
            <a:chExt cx="4191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91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835727"/>
                  </a:lnTo>
                  <a:cubicBezTo>
                    <a:pt x="4191000" y="1854100"/>
                    <a:pt x="4183702" y="1871719"/>
                    <a:pt x="4170711" y="1884711"/>
                  </a:cubicBezTo>
                  <a:cubicBezTo>
                    <a:pt x="4157719" y="1897702"/>
                    <a:pt x="4140100" y="1905000"/>
                    <a:pt x="4121727" y="1905000"/>
                  </a:cubicBezTo>
                  <a:lnTo>
                    <a:pt x="69273" y="1905000"/>
                  </a:lnTo>
                  <a:cubicBezTo>
                    <a:pt x="50900" y="1905000"/>
                    <a:pt x="33281" y="1897702"/>
                    <a:pt x="20290" y="1884711"/>
                  </a:cubicBezTo>
                  <a:cubicBezTo>
                    <a:pt x="7298" y="1871719"/>
                    <a:pt x="0" y="1854100"/>
                    <a:pt x="0" y="1835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EEE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191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RAW FLIGHT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DATA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4143375" y="7858125"/>
            <a:ext cx="857250" cy="0"/>
          </a:xfrm>
          <a:prstGeom prst="line">
            <a:avLst/>
          </a:prstGeom>
          <a:ln cap="rnd" w="38100">
            <a:solidFill>
              <a:srgbClr val="6C4C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5143500" y="7143750"/>
            <a:ext cx="3143250" cy="1428750"/>
            <a:chOff x="0" y="0"/>
            <a:chExt cx="4191000" cy="190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91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835727"/>
                  </a:lnTo>
                  <a:cubicBezTo>
                    <a:pt x="4191000" y="1854100"/>
                    <a:pt x="4183702" y="1871719"/>
                    <a:pt x="4170711" y="1884711"/>
                  </a:cubicBezTo>
                  <a:cubicBezTo>
                    <a:pt x="4157719" y="1897702"/>
                    <a:pt x="4140100" y="1905000"/>
                    <a:pt x="4121727" y="1905000"/>
                  </a:cubicBezTo>
                  <a:lnTo>
                    <a:pt x="69273" y="1905000"/>
                  </a:lnTo>
                  <a:cubicBezTo>
                    <a:pt x="50900" y="1905000"/>
                    <a:pt x="33281" y="1897702"/>
                    <a:pt x="20290" y="1884711"/>
                  </a:cubicBezTo>
                  <a:cubicBezTo>
                    <a:pt x="7298" y="1871719"/>
                    <a:pt x="0" y="1854100"/>
                    <a:pt x="0" y="1835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EEE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4191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CLOUD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8334375" y="7858125"/>
            <a:ext cx="857250" cy="0"/>
          </a:xfrm>
          <a:prstGeom prst="line">
            <a:avLst/>
          </a:prstGeom>
          <a:ln cap="rnd" w="38100">
            <a:solidFill>
              <a:srgbClr val="6C4C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9334500" y="7143750"/>
            <a:ext cx="3143250" cy="1428750"/>
            <a:chOff x="0" y="0"/>
            <a:chExt cx="4191000" cy="190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91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835727"/>
                  </a:lnTo>
                  <a:cubicBezTo>
                    <a:pt x="4191000" y="1854100"/>
                    <a:pt x="4183702" y="1871719"/>
                    <a:pt x="4170711" y="1884711"/>
                  </a:cubicBezTo>
                  <a:cubicBezTo>
                    <a:pt x="4157719" y="1897702"/>
                    <a:pt x="4140100" y="1905000"/>
                    <a:pt x="4121727" y="1905000"/>
                  </a:cubicBezTo>
                  <a:lnTo>
                    <a:pt x="69273" y="1905000"/>
                  </a:lnTo>
                  <a:cubicBezTo>
                    <a:pt x="50900" y="1905000"/>
                    <a:pt x="33281" y="1897702"/>
                    <a:pt x="20290" y="1884711"/>
                  </a:cubicBezTo>
                  <a:cubicBezTo>
                    <a:pt x="7298" y="1871719"/>
                    <a:pt x="0" y="1854100"/>
                    <a:pt x="0" y="1835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EEE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191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ANALYSIS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2525375" y="7858125"/>
            <a:ext cx="857250" cy="0"/>
          </a:xfrm>
          <a:prstGeom prst="line">
            <a:avLst/>
          </a:prstGeom>
          <a:ln cap="rnd" w="38100">
            <a:solidFill>
              <a:srgbClr val="6C4C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13525500" y="7143750"/>
            <a:ext cx="3143250" cy="1428750"/>
            <a:chOff x="0" y="0"/>
            <a:chExt cx="4191000" cy="1905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91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835727"/>
                  </a:lnTo>
                  <a:cubicBezTo>
                    <a:pt x="4191000" y="1854100"/>
                    <a:pt x="4183702" y="1871719"/>
                    <a:pt x="4170711" y="1884711"/>
                  </a:cubicBezTo>
                  <a:cubicBezTo>
                    <a:pt x="4157719" y="1897702"/>
                    <a:pt x="4140100" y="1905000"/>
                    <a:pt x="4121727" y="1905000"/>
                  </a:cubicBezTo>
                  <a:lnTo>
                    <a:pt x="69273" y="1905000"/>
                  </a:lnTo>
                  <a:cubicBezTo>
                    <a:pt x="50900" y="1905000"/>
                    <a:pt x="33281" y="1897702"/>
                    <a:pt x="20290" y="1884711"/>
                  </a:cubicBezTo>
                  <a:cubicBezTo>
                    <a:pt x="7298" y="1871719"/>
                    <a:pt x="0" y="1854100"/>
                    <a:pt x="0" y="1835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6C4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4191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DASHBOARD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57250" y="9696450"/>
            <a:ext cx="8572500" cy="19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6C4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SKYBOOK  •  FLIGHT BOOKING &amp; REVENUE ANALYTICS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D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6197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9AA8FF"/>
                </a:solidFill>
                <a:latin typeface="Lato Bold"/>
                <a:ea typeface="Lato Bold"/>
                <a:cs typeface="Lato Bold"/>
                <a:sym typeface="Lato Bold"/>
              </a:rPr>
              <a:t>02 / CONTEXT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0965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28650"/>
            <a:ext cx="76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9AA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AutoShape 5" id="5"/>
          <p:cNvSpPr/>
          <p:nvPr/>
        </p:nvSpPr>
        <p:spPr>
          <a:xfrm>
            <a:off x="952500" y="1809750"/>
            <a:ext cx="16383000" cy="0"/>
          </a:xfrm>
          <a:prstGeom prst="line">
            <a:avLst/>
          </a:prstGeom>
          <a:ln cap="flat" w="19050">
            <a:solidFill>
              <a:srgbClr val="3443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52500" y="2486025"/>
            <a:ext cx="1047750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5"/>
              </a:lnSpc>
            </a:pPr>
            <a:r>
              <a:rPr lang="en-US" sz="3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“Data is not just information —</a:t>
            </a:r>
          </a:p>
          <a:p>
            <a:pPr algn="l">
              <a:lnSpc>
                <a:spcPts val="4425"/>
              </a:lnSpc>
            </a:pPr>
            <a:r>
              <a:rPr lang="en-US" sz="3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 is the power behind better decisions.”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4810125"/>
            <a:ext cx="10001250" cy="99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DCE5FF"/>
                </a:solidFill>
                <a:latin typeface="Lato"/>
                <a:ea typeface="Lato"/>
                <a:cs typeface="Lato"/>
                <a:sym typeface="Lato"/>
              </a:rPr>
              <a:t>SkyBook builds a complete data journey: storing and processing flight records in the cloud, analysing them with SQL, and presenting clear insight through an interactive Power BI dashboard.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7781925"/>
            <a:ext cx="6667500" cy="24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 spc="173" b="true">
                <a:solidFill>
                  <a:srgbClr val="9AA8FF"/>
                </a:solidFill>
                <a:latin typeface="Lato Bold"/>
                <a:ea typeface="Lato Bold"/>
                <a:cs typeface="Lato Bold"/>
                <a:sym typeface="Lato Bold"/>
              </a:rPr>
              <a:t>FROM RAW DATA TO REAL INSIGHT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8162925"/>
            <a:ext cx="857250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Let the data tell the story.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239750" y="3000375"/>
            <a:ext cx="2381250" cy="2381250"/>
            <a:chOff x="0" y="0"/>
            <a:chExt cx="3175000" cy="317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75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175000">
                  <a:moveTo>
                    <a:pt x="1587500" y="0"/>
                  </a:moveTo>
                  <a:cubicBezTo>
                    <a:pt x="2464252" y="0"/>
                    <a:pt x="3175000" y="710748"/>
                    <a:pt x="3175000" y="1587500"/>
                  </a:cubicBezTo>
                  <a:cubicBezTo>
                    <a:pt x="3175000" y="2464252"/>
                    <a:pt x="2464252" y="3175000"/>
                    <a:pt x="1587500" y="3175000"/>
                  </a:cubicBezTo>
                  <a:cubicBezTo>
                    <a:pt x="710748" y="3175000"/>
                    <a:pt x="0" y="2464252"/>
                    <a:pt x="0" y="1587500"/>
                  </a:cubicBezTo>
                  <a:cubicBezTo>
                    <a:pt x="0" y="710748"/>
                    <a:pt x="710748" y="0"/>
                    <a:pt x="1587500" y="0"/>
                  </a:cubicBezTo>
                  <a:close/>
                </a:path>
              </a:pathLst>
            </a:custGeom>
            <a:solidFill>
              <a:srgbClr val="6C4C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4763750" y="4953000"/>
            <a:ext cx="1428750" cy="1428750"/>
            <a:chOff x="0" y="0"/>
            <a:chExt cx="1905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F80ED">
                <a:alpha val="54902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AutoShape 14" id="14"/>
          <p:cNvSpPr/>
          <p:nvPr/>
        </p:nvSpPr>
        <p:spPr>
          <a:xfrm flipV="true">
            <a:off x="12382500" y="3333750"/>
            <a:ext cx="4191000" cy="3905250"/>
          </a:xfrm>
          <a:prstGeom prst="line">
            <a:avLst/>
          </a:prstGeom>
          <a:ln cap="rnd" w="38100">
            <a:solidFill>
              <a:srgbClr val="8FA7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5" id="15"/>
          <p:cNvSpPr txBox="true"/>
          <p:nvPr/>
        </p:nvSpPr>
        <p:spPr>
          <a:xfrm rot="0">
            <a:off x="857250" y="969645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55D8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SKYBOOK  •  FLIGHT BOOKING &amp; REVENUE ANALYTICS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6197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6C4CFF"/>
                </a:solidFill>
                <a:latin typeface="Lato Bold"/>
                <a:ea typeface="Lato Bold"/>
                <a:cs typeface="Lato Bold"/>
                <a:sym typeface="Lato Bold"/>
              </a:rPr>
              <a:t>03 / CHALLENGE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0965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721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complexity to clarity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28650"/>
            <a:ext cx="76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6C4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AutoShape 5" id="5"/>
          <p:cNvSpPr/>
          <p:nvPr/>
        </p:nvSpPr>
        <p:spPr>
          <a:xfrm>
            <a:off x="952500" y="1809750"/>
            <a:ext cx="16383000" cy="0"/>
          </a:xfrm>
          <a:prstGeom prst="line">
            <a:avLst/>
          </a:prstGeom>
          <a:ln cap="flat" w="19050">
            <a:solidFill>
              <a:srgbClr val="D8DE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52500" y="2190750"/>
            <a:ext cx="11906250" cy="66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66728F"/>
                </a:solidFill>
                <a:latin typeface="Lato"/>
                <a:ea typeface="Lato"/>
                <a:cs typeface="Lato"/>
                <a:sym typeface="Lato"/>
              </a:rPr>
              <a:t>Flight booking datasets span airlines, routes, cities, fares, payments, dates and booking status. Raw records alone are difficult to interpret for decisions.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4875" y="4619625"/>
            <a:ext cx="3333750" cy="1714500"/>
            <a:chOff x="0" y="0"/>
            <a:chExt cx="4445000" cy="228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220686"/>
                  </a:lnTo>
                  <a:cubicBezTo>
                    <a:pt x="4445000" y="2238008"/>
                    <a:pt x="4438119" y="2254621"/>
                    <a:pt x="4425870" y="2266870"/>
                  </a:cubicBezTo>
                  <a:cubicBezTo>
                    <a:pt x="4413621" y="2279119"/>
                    <a:pt x="4397008" y="2286000"/>
                    <a:pt x="4379686" y="2286000"/>
                  </a:cubicBezTo>
                  <a:lnTo>
                    <a:pt x="65314" y="2286000"/>
                  </a:lnTo>
                  <a:cubicBezTo>
                    <a:pt x="47992" y="2286000"/>
                    <a:pt x="31379" y="2279119"/>
                    <a:pt x="19130" y="2266870"/>
                  </a:cubicBezTo>
                  <a:cubicBezTo>
                    <a:pt x="6881" y="2254621"/>
                    <a:pt x="0" y="2238008"/>
                    <a:pt x="0" y="2220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EEE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4445000" cy="2286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LARGE RAW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DATASET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4333875" y="5476875"/>
            <a:ext cx="762000" cy="0"/>
          </a:xfrm>
          <a:prstGeom prst="line">
            <a:avLst/>
          </a:prstGeom>
          <a:ln cap="rnd" w="38100">
            <a:solidFill>
              <a:srgbClr val="6C4C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5238750" y="4619625"/>
            <a:ext cx="3333750" cy="1714500"/>
            <a:chOff x="0" y="0"/>
            <a:chExt cx="44450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220686"/>
                  </a:lnTo>
                  <a:cubicBezTo>
                    <a:pt x="4445000" y="2238008"/>
                    <a:pt x="4438119" y="2254621"/>
                    <a:pt x="4425870" y="2266870"/>
                  </a:cubicBezTo>
                  <a:cubicBezTo>
                    <a:pt x="4413621" y="2279119"/>
                    <a:pt x="4397008" y="2286000"/>
                    <a:pt x="4379686" y="2286000"/>
                  </a:cubicBezTo>
                  <a:lnTo>
                    <a:pt x="65314" y="2286000"/>
                  </a:lnTo>
                  <a:cubicBezTo>
                    <a:pt x="47992" y="2286000"/>
                    <a:pt x="31379" y="2279119"/>
                    <a:pt x="19130" y="2266870"/>
                  </a:cubicBezTo>
                  <a:cubicBezTo>
                    <a:pt x="6881" y="2254621"/>
                    <a:pt x="0" y="2238008"/>
                    <a:pt x="0" y="2220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EEE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4445000" cy="2286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DIFFICULT TO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UNDERSTAND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667750" y="5476875"/>
            <a:ext cx="762000" cy="0"/>
          </a:xfrm>
          <a:prstGeom prst="line">
            <a:avLst/>
          </a:prstGeom>
          <a:ln cap="rnd" w="38100">
            <a:solidFill>
              <a:srgbClr val="6C4C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9572625" y="4619625"/>
            <a:ext cx="3333750" cy="1714500"/>
            <a:chOff x="0" y="0"/>
            <a:chExt cx="4445000" cy="228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45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220686"/>
                  </a:lnTo>
                  <a:cubicBezTo>
                    <a:pt x="4445000" y="2238008"/>
                    <a:pt x="4438119" y="2254621"/>
                    <a:pt x="4425870" y="2266870"/>
                  </a:cubicBezTo>
                  <a:cubicBezTo>
                    <a:pt x="4413621" y="2279119"/>
                    <a:pt x="4397008" y="2286000"/>
                    <a:pt x="4379686" y="2286000"/>
                  </a:cubicBezTo>
                  <a:lnTo>
                    <a:pt x="65314" y="2286000"/>
                  </a:lnTo>
                  <a:cubicBezTo>
                    <a:pt x="47992" y="2286000"/>
                    <a:pt x="31379" y="2279119"/>
                    <a:pt x="19130" y="2266870"/>
                  </a:cubicBezTo>
                  <a:cubicBezTo>
                    <a:pt x="6881" y="2254621"/>
                    <a:pt x="0" y="2238008"/>
                    <a:pt x="0" y="2220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EEE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445000" cy="2286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STRUCTURED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ANALYTICS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3001625" y="5476875"/>
            <a:ext cx="762000" cy="0"/>
          </a:xfrm>
          <a:prstGeom prst="line">
            <a:avLst/>
          </a:prstGeom>
          <a:ln cap="rnd" w="38100">
            <a:solidFill>
              <a:srgbClr val="6C4C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13906500" y="4619625"/>
            <a:ext cx="3333750" cy="1714500"/>
            <a:chOff x="0" y="0"/>
            <a:chExt cx="4445000" cy="228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220686"/>
                  </a:lnTo>
                  <a:cubicBezTo>
                    <a:pt x="4445000" y="2238008"/>
                    <a:pt x="4438119" y="2254621"/>
                    <a:pt x="4425870" y="2266870"/>
                  </a:cubicBezTo>
                  <a:cubicBezTo>
                    <a:pt x="4413621" y="2279119"/>
                    <a:pt x="4397008" y="2286000"/>
                    <a:pt x="4379686" y="2286000"/>
                  </a:cubicBezTo>
                  <a:lnTo>
                    <a:pt x="65314" y="2286000"/>
                  </a:lnTo>
                  <a:cubicBezTo>
                    <a:pt x="47992" y="2286000"/>
                    <a:pt x="31379" y="2279119"/>
                    <a:pt x="19130" y="2266870"/>
                  </a:cubicBezTo>
                  <a:cubicBezTo>
                    <a:pt x="6881" y="2254621"/>
                    <a:pt x="0" y="2238008"/>
                    <a:pt x="0" y="2220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0D1B3D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445000" cy="2286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CLEAR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INSIGHTS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381250" y="7953375"/>
            <a:ext cx="135255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6C4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“SkyBook turns raw records into a clear business story.”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7250" y="9696450"/>
            <a:ext cx="8572500" cy="19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6C4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SKYBOOK  •  FLIGHT BOOKING &amp; REVENUE ANALYTICS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6197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6C4CFF"/>
                </a:solidFill>
                <a:latin typeface="Lato Bold"/>
                <a:ea typeface="Lato Bold"/>
                <a:cs typeface="Lato Bold"/>
                <a:sym typeface="Lato Bold"/>
              </a:rPr>
              <a:t>04 / STACK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0965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721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Technologies &amp; Services Used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28650"/>
            <a:ext cx="76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6C4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name="AutoShape 5" id="5"/>
          <p:cNvSpPr/>
          <p:nvPr/>
        </p:nvSpPr>
        <p:spPr>
          <a:xfrm>
            <a:off x="952500" y="1809750"/>
            <a:ext cx="16383000" cy="0"/>
          </a:xfrm>
          <a:prstGeom prst="line">
            <a:avLst/>
          </a:prstGeom>
          <a:ln cap="flat" w="19050">
            <a:solidFill>
              <a:srgbClr val="D8DE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52500" y="2343150"/>
            <a:ext cx="609600" cy="6096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6C4C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2343150"/>
            <a:ext cx="609600" cy="6096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6C4C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52500" y="3724275"/>
            <a:ext cx="609600" cy="6096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6C4C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0" y="3724275"/>
            <a:ext cx="609600" cy="6096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6C4C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52500" y="5105400"/>
            <a:ext cx="609600" cy="60960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6C4C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0" y="5105400"/>
            <a:ext cx="609600" cy="60960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52500" y="6486525"/>
            <a:ext cx="609600" cy="60960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0" y="6486525"/>
            <a:ext cx="609600" cy="60960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52500" y="7867650"/>
            <a:ext cx="609600" cy="60960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0" y="7867650"/>
            <a:ext cx="609600" cy="60960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952625" y="2286000"/>
            <a:ext cx="5905500" cy="657225"/>
            <a:chOff x="0" y="0"/>
            <a:chExt cx="7874000" cy="876300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9525"/>
              <a:ext cx="7112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721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Amazon S3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542925"/>
              <a:ext cx="7874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6728F"/>
                  </a:solidFill>
                  <a:latin typeface="Lato"/>
                  <a:ea typeface="Lato"/>
                  <a:cs typeface="Lato"/>
                  <a:sym typeface="Lato"/>
                </a:rPr>
                <a:t>Cloud dataset storage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144125" y="2286000"/>
            <a:ext cx="5905500" cy="657225"/>
            <a:chOff x="0" y="0"/>
            <a:chExt cx="7874000" cy="876300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9525"/>
              <a:ext cx="7112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721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AWS IAM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542925"/>
              <a:ext cx="7874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6728F"/>
                  </a:solidFill>
                  <a:latin typeface="Lato"/>
                  <a:ea typeface="Lato"/>
                  <a:cs typeface="Lato"/>
                  <a:sym typeface="Lato"/>
                </a:rPr>
                <a:t>Access and role management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952625" y="3667125"/>
            <a:ext cx="5905500" cy="657225"/>
            <a:chOff x="0" y="0"/>
            <a:chExt cx="7874000" cy="876300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9525"/>
              <a:ext cx="7112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721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AWS Glue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542925"/>
              <a:ext cx="7874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6728F"/>
                  </a:solidFill>
                  <a:latin typeface="Lato"/>
                  <a:ea typeface="Lato"/>
                  <a:cs typeface="Lato"/>
                  <a:sym typeface="Lato"/>
                </a:rPr>
                <a:t>Schema discovery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144125" y="3667125"/>
            <a:ext cx="5905500" cy="657225"/>
            <a:chOff x="0" y="0"/>
            <a:chExt cx="7874000" cy="876300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9525"/>
              <a:ext cx="7112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721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Glue Data Catalog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542925"/>
              <a:ext cx="7874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6728F"/>
                  </a:solidFill>
                  <a:latin typeface="Lato"/>
                  <a:ea typeface="Lato"/>
                  <a:cs typeface="Lato"/>
                  <a:sym typeface="Lato"/>
                </a:rPr>
                <a:t>Metadata &amp; table registration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952625" y="5048250"/>
            <a:ext cx="5905500" cy="657225"/>
            <a:chOff x="0" y="0"/>
            <a:chExt cx="7874000" cy="876300"/>
          </a:xfrm>
        </p:grpSpPr>
        <p:sp>
          <p:nvSpPr>
            <p:cNvPr name="TextBox 39" id="39"/>
            <p:cNvSpPr txBox="true"/>
            <p:nvPr/>
          </p:nvSpPr>
          <p:spPr>
            <a:xfrm rot="0">
              <a:off x="0" y="9525"/>
              <a:ext cx="7112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721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Amazon Athena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0" y="542925"/>
              <a:ext cx="7874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6728F"/>
                  </a:solidFill>
                  <a:latin typeface="Lato"/>
                  <a:ea typeface="Lato"/>
                  <a:cs typeface="Lato"/>
                  <a:sym typeface="Lato"/>
                </a:rPr>
                <a:t>Serverless SQL analysis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144125" y="5048250"/>
            <a:ext cx="5905500" cy="657225"/>
            <a:chOff x="0" y="0"/>
            <a:chExt cx="7874000" cy="876300"/>
          </a:xfrm>
        </p:grpSpPr>
        <p:sp>
          <p:nvSpPr>
            <p:cNvPr name="TextBox 42" id="42"/>
            <p:cNvSpPr txBox="true"/>
            <p:nvPr/>
          </p:nvSpPr>
          <p:spPr>
            <a:xfrm rot="0">
              <a:off x="0" y="9525"/>
              <a:ext cx="7112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721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SQL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0" y="542925"/>
              <a:ext cx="7874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6728F"/>
                  </a:solidFill>
                  <a:latin typeface="Lato"/>
                  <a:ea typeface="Lato"/>
                  <a:cs typeface="Lato"/>
                  <a:sym typeface="Lato"/>
                </a:rPr>
                <a:t>Booking &amp; revenue analysis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52625" y="6429375"/>
            <a:ext cx="5905500" cy="657225"/>
            <a:chOff x="0" y="0"/>
            <a:chExt cx="7874000" cy="876300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0" y="9525"/>
              <a:ext cx="7112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721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Athena ODBC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0" y="542925"/>
              <a:ext cx="7874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6728F"/>
                  </a:solidFill>
                  <a:latin typeface="Lato"/>
                  <a:ea typeface="Lato"/>
                  <a:cs typeface="Lato"/>
                  <a:sym typeface="Lato"/>
                </a:rPr>
                <a:t>Athena–Power BI bridge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144125" y="6429375"/>
            <a:ext cx="5905500" cy="657225"/>
            <a:chOff x="0" y="0"/>
            <a:chExt cx="7874000" cy="876300"/>
          </a:xfrm>
        </p:grpSpPr>
        <p:sp>
          <p:nvSpPr>
            <p:cNvPr name="TextBox 48" id="48"/>
            <p:cNvSpPr txBox="true"/>
            <p:nvPr/>
          </p:nvSpPr>
          <p:spPr>
            <a:xfrm rot="0">
              <a:off x="0" y="9525"/>
              <a:ext cx="7112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721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Power Query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0" y="542925"/>
              <a:ext cx="7874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6728F"/>
                  </a:solidFill>
                  <a:latin typeface="Lato"/>
                  <a:ea typeface="Lato"/>
                  <a:cs typeface="Lato"/>
                  <a:sym typeface="Lato"/>
                </a:rPr>
                <a:t>Preparation &amp; transformation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952625" y="7810500"/>
            <a:ext cx="5905500" cy="657225"/>
            <a:chOff x="0" y="0"/>
            <a:chExt cx="7874000" cy="876300"/>
          </a:xfrm>
        </p:grpSpPr>
        <p:sp>
          <p:nvSpPr>
            <p:cNvPr name="TextBox 51" id="51"/>
            <p:cNvSpPr txBox="true"/>
            <p:nvPr/>
          </p:nvSpPr>
          <p:spPr>
            <a:xfrm rot="0">
              <a:off x="0" y="9525"/>
              <a:ext cx="7112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721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DAX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0" y="542925"/>
              <a:ext cx="7874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6728F"/>
                  </a:solidFill>
                  <a:latin typeface="Lato"/>
                  <a:ea typeface="Lato"/>
                  <a:cs typeface="Lato"/>
                  <a:sym typeface="Lato"/>
                </a:rPr>
                <a:t>KPI calculations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144125" y="7810500"/>
            <a:ext cx="5905500" cy="657225"/>
            <a:chOff x="0" y="0"/>
            <a:chExt cx="7874000" cy="876300"/>
          </a:xfrm>
        </p:grpSpPr>
        <p:sp>
          <p:nvSpPr>
            <p:cNvPr name="TextBox 54" id="54"/>
            <p:cNvSpPr txBox="true"/>
            <p:nvPr/>
          </p:nvSpPr>
          <p:spPr>
            <a:xfrm rot="0">
              <a:off x="0" y="9525"/>
              <a:ext cx="7112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721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Power BI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0" y="542925"/>
              <a:ext cx="7874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6728F"/>
                  </a:solidFill>
                  <a:latin typeface="Lato"/>
                  <a:ea typeface="Lato"/>
                  <a:cs typeface="Lato"/>
                  <a:sym typeface="Lato"/>
                </a:rPr>
                <a:t>Interactive dashboard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857250" y="9696450"/>
            <a:ext cx="8572500" cy="19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6C4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SKYBOOK  •  FLIGHT BOOKING &amp; REVENUE ANALYTICS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D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6197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9AA8FF"/>
                </a:solidFill>
                <a:latin typeface="Lato Bold"/>
                <a:ea typeface="Lato Bold"/>
                <a:cs typeface="Lato Bold"/>
                <a:sym typeface="Lato Bold"/>
              </a:rPr>
              <a:t>05 /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0965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End-to-End Data Journey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28650"/>
            <a:ext cx="76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9AA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</p:txBody>
      </p:sp>
      <p:sp>
        <p:nvSpPr>
          <p:cNvPr name="AutoShape 5" id="5"/>
          <p:cNvSpPr/>
          <p:nvPr/>
        </p:nvSpPr>
        <p:spPr>
          <a:xfrm>
            <a:off x="952500" y="1809750"/>
            <a:ext cx="16383000" cy="0"/>
          </a:xfrm>
          <a:prstGeom prst="line">
            <a:avLst/>
          </a:prstGeom>
          <a:ln cap="flat" w="19050">
            <a:solidFill>
              <a:srgbClr val="3443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857250" y="2952750"/>
            <a:ext cx="2238375" cy="1143000"/>
            <a:chOff x="0" y="0"/>
            <a:chExt cx="2984500" cy="152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Flight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Dataset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3009724" y="3524250"/>
            <a:ext cx="752651" cy="0"/>
          </a:xfrm>
          <a:prstGeom prst="line">
            <a:avLst/>
          </a:prstGeom>
          <a:ln cap="rnd" w="38100">
            <a:solidFill>
              <a:srgbClr val="8FA7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3762375" y="2952750"/>
            <a:ext cx="2238375" cy="1143000"/>
            <a:chOff x="0" y="0"/>
            <a:chExt cx="2984500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Amazon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S3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5943468" y="3524250"/>
            <a:ext cx="724032" cy="0"/>
          </a:xfrm>
          <a:prstGeom prst="line">
            <a:avLst/>
          </a:prstGeom>
          <a:ln cap="rnd" w="38100">
            <a:solidFill>
              <a:srgbClr val="8FA7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6667500" y="2952750"/>
            <a:ext cx="2238375" cy="1143000"/>
            <a:chOff x="0" y="0"/>
            <a:chExt cx="29845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AWS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IAM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8848593" y="3524250"/>
            <a:ext cx="724032" cy="0"/>
          </a:xfrm>
          <a:prstGeom prst="line">
            <a:avLst/>
          </a:prstGeom>
          <a:ln cap="rnd" w="38100">
            <a:solidFill>
              <a:srgbClr val="8FA7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9572625" y="2952750"/>
            <a:ext cx="2238375" cy="1143000"/>
            <a:chOff x="0" y="0"/>
            <a:chExt cx="2984500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AWS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Glue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1753718" y="3524250"/>
            <a:ext cx="724032" cy="0"/>
          </a:xfrm>
          <a:prstGeom prst="line">
            <a:avLst/>
          </a:prstGeom>
          <a:ln cap="rnd" w="38100">
            <a:solidFill>
              <a:srgbClr val="8FA7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12477750" y="2952750"/>
            <a:ext cx="2238375" cy="1143000"/>
            <a:chOff x="0" y="0"/>
            <a:chExt cx="2984500" cy="152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Data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Catalog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4716125" y="3524250"/>
            <a:ext cx="666750" cy="0"/>
          </a:xfrm>
          <a:prstGeom prst="line">
            <a:avLst/>
          </a:prstGeom>
          <a:ln cap="rnd" w="38100">
            <a:solidFill>
              <a:srgbClr val="8FA7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15382875" y="2952750"/>
            <a:ext cx="2238375" cy="1143000"/>
            <a:chOff x="0" y="0"/>
            <a:chExt cx="2984500" cy="1524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Amazon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Athena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57250" y="6191250"/>
            <a:ext cx="2238375" cy="1143000"/>
            <a:chOff x="0" y="0"/>
            <a:chExt cx="2984500" cy="152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SQL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Analysis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flipH="true">
            <a:off x="3095625" y="6762750"/>
            <a:ext cx="486483" cy="0"/>
          </a:xfrm>
          <a:prstGeom prst="line">
            <a:avLst/>
          </a:prstGeom>
          <a:ln cap="rnd" w="38100">
            <a:solidFill>
              <a:srgbClr val="8FA7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3762375" y="6191250"/>
            <a:ext cx="2238375" cy="1143000"/>
            <a:chOff x="0" y="0"/>
            <a:chExt cx="2984500" cy="1524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Athena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ODBC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667500" y="6191250"/>
            <a:ext cx="2238375" cy="1143000"/>
            <a:chOff x="0" y="0"/>
            <a:chExt cx="2984500" cy="1524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Power BI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572625" y="6191250"/>
            <a:ext cx="2238375" cy="1143000"/>
            <a:chOff x="0" y="0"/>
            <a:chExt cx="2984500" cy="152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Power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Query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477750" y="6191250"/>
            <a:ext cx="2238375" cy="1143000"/>
            <a:chOff x="0" y="0"/>
            <a:chExt cx="2984500" cy="1524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DAX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382875" y="6191250"/>
            <a:ext cx="2238375" cy="1143000"/>
            <a:chOff x="0" y="0"/>
            <a:chExt cx="2984500" cy="1524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6C4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SkyBook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Dashboard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>
            <a:off x="16502062" y="4095750"/>
            <a:ext cx="0" cy="1938149"/>
          </a:xfrm>
          <a:prstGeom prst="line">
            <a:avLst/>
          </a:prstGeom>
          <a:ln cap="rnd" w="38100">
            <a:solidFill>
              <a:srgbClr val="8FA7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49" id="49"/>
          <p:cNvSpPr txBox="true"/>
          <p:nvPr/>
        </p:nvSpPr>
        <p:spPr>
          <a:xfrm rot="0">
            <a:off x="2381250" y="8810625"/>
            <a:ext cx="13525500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2"/>
              </a:lnSpc>
            </a:pPr>
            <a:r>
              <a:rPr lang="en-US" sz="1875">
                <a:solidFill>
                  <a:srgbClr val="DCE5FF"/>
                </a:solidFill>
                <a:latin typeface="Lato"/>
                <a:ea typeface="Lato"/>
                <a:cs typeface="Lato"/>
                <a:sym typeface="Lato"/>
              </a:rPr>
              <a:t>Each stage has a specific responsibility — from storing and securing data to analysing and visualising it.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57250" y="969645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55D8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SKYBOOK  •  FLIGHT BOOKING &amp; REVENUE ANALYTICS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857250" y="6191250"/>
            <a:ext cx="2238375" cy="1143000"/>
            <a:chOff x="0" y="0"/>
            <a:chExt cx="2984500" cy="1524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6C4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SkyBook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Dashboard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5382875" y="6191250"/>
            <a:ext cx="2238375" cy="1143000"/>
            <a:chOff x="0" y="0"/>
            <a:chExt cx="2984500" cy="1524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SQL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Analysis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729038" y="6191250"/>
            <a:ext cx="2238375" cy="1143000"/>
            <a:chOff x="0" y="0"/>
            <a:chExt cx="2984500" cy="1524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Athena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ODBC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634162" y="6191250"/>
            <a:ext cx="2238375" cy="1143000"/>
            <a:chOff x="0" y="0"/>
            <a:chExt cx="2984500" cy="1524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Power BI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601200" y="6191250"/>
            <a:ext cx="2238375" cy="1143000"/>
            <a:chOff x="0" y="0"/>
            <a:chExt cx="2984500" cy="15240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Power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Query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506325" y="6191250"/>
            <a:ext cx="2238375" cy="1143000"/>
            <a:chOff x="0" y="0"/>
            <a:chExt cx="2984500" cy="15240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984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426723"/>
                  </a:lnTo>
                  <a:cubicBezTo>
                    <a:pt x="2984500" y="1480448"/>
                    <a:pt x="2940948" y="1524000"/>
                    <a:pt x="2887223" y="1524000"/>
                  </a:cubicBezTo>
                  <a:lnTo>
                    <a:pt x="97277" y="1524000"/>
                  </a:lnTo>
                  <a:cubicBezTo>
                    <a:pt x="43552" y="1524000"/>
                    <a:pt x="0" y="1480448"/>
                    <a:pt x="0" y="1426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29845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DAX</a:t>
              </a:r>
            </a:p>
          </p:txBody>
        </p:sp>
      </p:grpSp>
      <p:sp>
        <p:nvSpPr>
          <p:cNvPr name="AutoShape 69" id="69"/>
          <p:cNvSpPr/>
          <p:nvPr/>
        </p:nvSpPr>
        <p:spPr>
          <a:xfrm flipH="true">
            <a:off x="6000750" y="6762750"/>
            <a:ext cx="571500" cy="0"/>
          </a:xfrm>
          <a:prstGeom prst="line">
            <a:avLst/>
          </a:prstGeom>
          <a:ln cap="rnd" w="38100">
            <a:solidFill>
              <a:srgbClr val="8FA7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0" id="70"/>
          <p:cNvSpPr/>
          <p:nvPr/>
        </p:nvSpPr>
        <p:spPr>
          <a:xfrm flipH="true">
            <a:off x="8905875" y="6762750"/>
            <a:ext cx="695325" cy="0"/>
          </a:xfrm>
          <a:prstGeom prst="line">
            <a:avLst/>
          </a:prstGeom>
          <a:ln cap="rnd" w="38100">
            <a:solidFill>
              <a:srgbClr val="8FA7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1" id="71"/>
          <p:cNvSpPr/>
          <p:nvPr/>
        </p:nvSpPr>
        <p:spPr>
          <a:xfrm flipH="true">
            <a:off x="11811000" y="6762750"/>
            <a:ext cx="695325" cy="0"/>
          </a:xfrm>
          <a:prstGeom prst="line">
            <a:avLst/>
          </a:prstGeom>
          <a:ln cap="rnd" w="38100">
            <a:solidFill>
              <a:srgbClr val="8FA7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2" id="72"/>
          <p:cNvSpPr/>
          <p:nvPr/>
        </p:nvSpPr>
        <p:spPr>
          <a:xfrm flipH="true">
            <a:off x="14716125" y="6762750"/>
            <a:ext cx="666750" cy="0"/>
          </a:xfrm>
          <a:prstGeom prst="line">
            <a:avLst/>
          </a:prstGeom>
          <a:ln cap="rnd" w="38100">
            <a:solidFill>
              <a:srgbClr val="8FA7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6197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6C4CFF"/>
                </a:solidFill>
                <a:latin typeface="Lato Bold"/>
                <a:ea typeface="Lato Bold"/>
                <a:cs typeface="Lato Bold"/>
                <a:sym typeface="Lato Bold"/>
              </a:rPr>
              <a:t>06 / CLOUD PREPARATION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0965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721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AWS Data Preparation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28650"/>
            <a:ext cx="76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6C4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</a:t>
            </a:r>
          </a:p>
        </p:txBody>
      </p:sp>
      <p:sp>
        <p:nvSpPr>
          <p:cNvPr name="AutoShape 5" id="5"/>
          <p:cNvSpPr/>
          <p:nvPr/>
        </p:nvSpPr>
        <p:spPr>
          <a:xfrm>
            <a:off x="952500" y="1809750"/>
            <a:ext cx="16383000" cy="0"/>
          </a:xfrm>
          <a:prstGeom prst="line">
            <a:avLst/>
          </a:prstGeom>
          <a:ln cap="flat" w="19050">
            <a:solidFill>
              <a:srgbClr val="D8DE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857250" y="3143250"/>
            <a:ext cx="3333750" cy="1571625"/>
            <a:chOff x="0" y="0"/>
            <a:chExt cx="4445000" cy="2095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030186"/>
                  </a:lnTo>
                  <a:cubicBezTo>
                    <a:pt x="4445000" y="2047508"/>
                    <a:pt x="4438119" y="2064121"/>
                    <a:pt x="4425870" y="2076370"/>
                  </a:cubicBezTo>
                  <a:cubicBezTo>
                    <a:pt x="4413621" y="2088619"/>
                    <a:pt x="4397008" y="2095500"/>
                    <a:pt x="4379686" y="2095500"/>
                  </a:cubicBezTo>
                  <a:lnTo>
                    <a:pt x="65314" y="2095500"/>
                  </a:lnTo>
                  <a:cubicBezTo>
                    <a:pt x="47992" y="2095500"/>
                    <a:pt x="31379" y="2088619"/>
                    <a:pt x="19130" y="2076370"/>
                  </a:cubicBezTo>
                  <a:cubicBezTo>
                    <a:pt x="6881" y="2064121"/>
                    <a:pt x="0" y="2047508"/>
                    <a:pt x="0" y="20301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EEE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445000" cy="209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1  AMAZON S3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4238625" y="3924300"/>
            <a:ext cx="809625" cy="0"/>
          </a:xfrm>
          <a:prstGeom prst="line">
            <a:avLst/>
          </a:prstGeom>
          <a:ln cap="rnd" w="38100">
            <a:solidFill>
              <a:srgbClr val="6C4C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5191125" y="3143250"/>
            <a:ext cx="3333750" cy="1571625"/>
            <a:chOff x="0" y="0"/>
            <a:chExt cx="4445000" cy="2095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5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030186"/>
                  </a:lnTo>
                  <a:cubicBezTo>
                    <a:pt x="4445000" y="2047508"/>
                    <a:pt x="4438119" y="2064121"/>
                    <a:pt x="4425870" y="2076370"/>
                  </a:cubicBezTo>
                  <a:cubicBezTo>
                    <a:pt x="4413621" y="2088619"/>
                    <a:pt x="4397008" y="2095500"/>
                    <a:pt x="4379686" y="2095500"/>
                  </a:cubicBezTo>
                  <a:lnTo>
                    <a:pt x="65314" y="2095500"/>
                  </a:lnTo>
                  <a:cubicBezTo>
                    <a:pt x="47992" y="2095500"/>
                    <a:pt x="31379" y="2088619"/>
                    <a:pt x="19130" y="2076370"/>
                  </a:cubicBezTo>
                  <a:cubicBezTo>
                    <a:pt x="6881" y="2064121"/>
                    <a:pt x="0" y="2047508"/>
                    <a:pt x="0" y="20301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EEE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445000" cy="209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2  AWS IAM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8572500" y="3924300"/>
            <a:ext cx="809625" cy="0"/>
          </a:xfrm>
          <a:prstGeom prst="line">
            <a:avLst/>
          </a:prstGeom>
          <a:ln cap="rnd" w="38100">
            <a:solidFill>
              <a:srgbClr val="6C4C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9525000" y="3143250"/>
            <a:ext cx="3333750" cy="1571625"/>
            <a:chOff x="0" y="0"/>
            <a:chExt cx="4445000" cy="2095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030186"/>
                  </a:lnTo>
                  <a:cubicBezTo>
                    <a:pt x="4445000" y="2047508"/>
                    <a:pt x="4438119" y="2064121"/>
                    <a:pt x="4425870" y="2076370"/>
                  </a:cubicBezTo>
                  <a:cubicBezTo>
                    <a:pt x="4413621" y="2088619"/>
                    <a:pt x="4397008" y="2095500"/>
                    <a:pt x="4379686" y="2095500"/>
                  </a:cubicBezTo>
                  <a:lnTo>
                    <a:pt x="65314" y="2095500"/>
                  </a:lnTo>
                  <a:cubicBezTo>
                    <a:pt x="47992" y="2095500"/>
                    <a:pt x="31379" y="2088619"/>
                    <a:pt x="19130" y="2076370"/>
                  </a:cubicBezTo>
                  <a:cubicBezTo>
                    <a:pt x="6881" y="2064121"/>
                    <a:pt x="0" y="2047508"/>
                    <a:pt x="0" y="20301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6C4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4445000" cy="209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3  AWS GLUE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2906375" y="3924300"/>
            <a:ext cx="809625" cy="0"/>
          </a:xfrm>
          <a:prstGeom prst="line">
            <a:avLst/>
          </a:prstGeom>
          <a:ln cap="rnd" w="38100">
            <a:solidFill>
              <a:srgbClr val="6C4C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3858875" y="3143250"/>
            <a:ext cx="3333750" cy="1571625"/>
            <a:chOff x="0" y="0"/>
            <a:chExt cx="4445000" cy="2095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45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030186"/>
                  </a:lnTo>
                  <a:cubicBezTo>
                    <a:pt x="4445000" y="2047508"/>
                    <a:pt x="4438119" y="2064121"/>
                    <a:pt x="4425870" y="2076370"/>
                  </a:cubicBezTo>
                  <a:cubicBezTo>
                    <a:pt x="4413621" y="2088619"/>
                    <a:pt x="4397008" y="2095500"/>
                    <a:pt x="4379686" y="2095500"/>
                  </a:cubicBezTo>
                  <a:lnTo>
                    <a:pt x="65314" y="2095500"/>
                  </a:lnTo>
                  <a:cubicBezTo>
                    <a:pt x="47992" y="2095500"/>
                    <a:pt x="31379" y="2088619"/>
                    <a:pt x="19130" y="2076370"/>
                  </a:cubicBezTo>
                  <a:cubicBezTo>
                    <a:pt x="6881" y="2064121"/>
                    <a:pt x="0" y="2047508"/>
                    <a:pt x="0" y="20301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EEE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445000" cy="209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4  DATA CATALOG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52500" y="5067300"/>
            <a:ext cx="3143250" cy="56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sz="1699">
                <a:solidFill>
                  <a:srgbClr val="66728F"/>
                </a:solidFill>
                <a:latin typeface="Lato"/>
                <a:ea typeface="Lato"/>
                <a:cs typeface="Lato"/>
                <a:sym typeface="Lato"/>
              </a:rPr>
              <a:t>Stores flight dataset</a:t>
            </a:r>
          </a:p>
          <a:p>
            <a:pPr algn="l">
              <a:lnSpc>
                <a:spcPts val="2294"/>
              </a:lnSpc>
            </a:pPr>
            <a:r>
              <a:rPr lang="en-US" sz="1699">
                <a:solidFill>
                  <a:srgbClr val="66728F"/>
                </a:solidFill>
                <a:latin typeface="Lato"/>
                <a:ea typeface="Lato"/>
                <a:cs typeface="Lato"/>
                <a:sym typeface="Lato"/>
              </a:rPr>
              <a:t>bucket: new-etl-source-bucket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86375" y="5067300"/>
            <a:ext cx="3143250" cy="56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sz="1699">
                <a:solidFill>
                  <a:srgbClr val="66728F"/>
                </a:solidFill>
                <a:latin typeface="Lato"/>
                <a:ea typeface="Lato"/>
                <a:cs typeface="Lato"/>
                <a:sym typeface="Lato"/>
              </a:rPr>
              <a:t>Controls access</a:t>
            </a:r>
          </a:p>
          <a:p>
            <a:pPr algn="l">
              <a:lnSpc>
                <a:spcPts val="2294"/>
              </a:lnSpc>
            </a:pPr>
            <a:r>
              <a:rPr lang="en-US" sz="1699">
                <a:solidFill>
                  <a:srgbClr val="66728F"/>
                </a:solidFill>
                <a:latin typeface="Lato"/>
                <a:ea typeface="Lato"/>
                <a:cs typeface="Lato"/>
                <a:sym typeface="Lato"/>
              </a:rPr>
              <a:t>role: new-etl-role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20250" y="5067300"/>
            <a:ext cx="3143250" cy="85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sz="1699">
                <a:solidFill>
                  <a:srgbClr val="66728F"/>
                </a:solidFill>
                <a:latin typeface="Lato"/>
                <a:ea typeface="Lato"/>
                <a:cs typeface="Lato"/>
                <a:sym typeface="Lato"/>
              </a:rPr>
              <a:t>Discovers data structure</a:t>
            </a:r>
          </a:p>
          <a:p>
            <a:pPr algn="l">
              <a:lnSpc>
                <a:spcPts val="2294"/>
              </a:lnSpc>
            </a:pPr>
            <a:r>
              <a:rPr lang="en-US" sz="1699">
                <a:solidFill>
                  <a:srgbClr val="66728F"/>
                </a:solidFill>
                <a:latin typeface="Lato"/>
                <a:ea typeface="Lato"/>
                <a:cs typeface="Lato"/>
                <a:sym typeface="Lato"/>
              </a:rPr>
              <a:t>database: customer-db</a:t>
            </a:r>
          </a:p>
          <a:p>
            <a:pPr algn="l">
              <a:lnSpc>
                <a:spcPts val="2294"/>
              </a:lnSpc>
            </a:pPr>
            <a:r>
              <a:rPr lang="en-US" sz="1699">
                <a:solidFill>
                  <a:srgbClr val="66728F"/>
                </a:solidFill>
                <a:latin typeface="Lato"/>
                <a:ea typeface="Lato"/>
                <a:cs typeface="Lato"/>
                <a:sym typeface="Lato"/>
              </a:rPr>
              <a:t>crawler: new-etl-crawler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54125" y="5067300"/>
            <a:ext cx="3143250" cy="281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sz="1699">
                <a:solidFill>
                  <a:srgbClr val="66728F"/>
                </a:solidFill>
                <a:latin typeface="Lato"/>
                <a:ea typeface="Lato"/>
                <a:cs typeface="Lato"/>
                <a:sym typeface="Lato"/>
              </a:rPr>
              <a:t>Registers metadata and tables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71750" y="7772400"/>
            <a:ext cx="131445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6C4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Glue Crawler automatically identifies available fields and data types.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7250" y="9696450"/>
            <a:ext cx="8572500" cy="19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6C4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SKYBOOK  •  FLIGHT BOOKING &amp; REVENUE ANALYTICS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6197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6C4CFF"/>
                </a:solidFill>
                <a:latin typeface="Lato Bold"/>
                <a:ea typeface="Lato Bold"/>
                <a:cs typeface="Lato Bold"/>
                <a:sym typeface="Lato Bold"/>
              </a:rPr>
              <a:t>07 / SQL LAYER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0965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721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Amazon Athena — Turning Data into Answers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28650"/>
            <a:ext cx="76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6C4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AutoShape 5" id="5"/>
          <p:cNvSpPr/>
          <p:nvPr/>
        </p:nvSpPr>
        <p:spPr>
          <a:xfrm>
            <a:off x="952500" y="1809750"/>
            <a:ext cx="16383000" cy="0"/>
          </a:xfrm>
          <a:prstGeom prst="line">
            <a:avLst/>
          </a:prstGeom>
          <a:ln cap="flat" w="19050">
            <a:solidFill>
              <a:srgbClr val="D8DE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52500" y="2095500"/>
            <a:ext cx="12382500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66728F"/>
                </a:solidFill>
                <a:latin typeface="Lato"/>
                <a:ea typeface="Lato"/>
                <a:cs typeface="Lato"/>
                <a:sym typeface="Lato"/>
              </a:rPr>
              <a:t>Athena runs SQL directly on cataloged flight data — without a traditional database.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4875" y="4238625"/>
            <a:ext cx="3333750" cy="1619250"/>
            <a:chOff x="0" y="0"/>
            <a:chExt cx="4445000" cy="215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093686"/>
                  </a:lnTo>
                  <a:cubicBezTo>
                    <a:pt x="4445000" y="2111008"/>
                    <a:pt x="4438119" y="2127621"/>
                    <a:pt x="4425870" y="2139870"/>
                  </a:cubicBezTo>
                  <a:cubicBezTo>
                    <a:pt x="4413621" y="2152119"/>
                    <a:pt x="4397008" y="2159000"/>
                    <a:pt x="4379686" y="2159000"/>
                  </a:cubicBezTo>
                  <a:lnTo>
                    <a:pt x="65314" y="2159000"/>
                  </a:lnTo>
                  <a:cubicBezTo>
                    <a:pt x="47992" y="2159000"/>
                    <a:pt x="31379" y="2152119"/>
                    <a:pt x="19130" y="2139870"/>
                  </a:cubicBezTo>
                  <a:cubicBezTo>
                    <a:pt x="6881" y="2127621"/>
                    <a:pt x="0" y="2111008"/>
                    <a:pt x="0" y="2093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EEE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4445000" cy="215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BUSINESS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QUESTION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4333875" y="5048250"/>
            <a:ext cx="762000" cy="0"/>
          </a:xfrm>
          <a:prstGeom prst="line">
            <a:avLst/>
          </a:prstGeom>
          <a:ln cap="rnd" w="38100">
            <a:solidFill>
              <a:srgbClr val="6C4C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5238750" y="4238625"/>
            <a:ext cx="3333750" cy="1619250"/>
            <a:chOff x="0" y="0"/>
            <a:chExt cx="4445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093686"/>
                  </a:lnTo>
                  <a:cubicBezTo>
                    <a:pt x="4445000" y="2111008"/>
                    <a:pt x="4438119" y="2127621"/>
                    <a:pt x="4425870" y="2139870"/>
                  </a:cubicBezTo>
                  <a:cubicBezTo>
                    <a:pt x="4413621" y="2152119"/>
                    <a:pt x="4397008" y="2159000"/>
                    <a:pt x="4379686" y="2159000"/>
                  </a:cubicBezTo>
                  <a:lnTo>
                    <a:pt x="65314" y="2159000"/>
                  </a:lnTo>
                  <a:cubicBezTo>
                    <a:pt x="47992" y="2159000"/>
                    <a:pt x="31379" y="2152119"/>
                    <a:pt x="19130" y="2139870"/>
                  </a:cubicBezTo>
                  <a:cubicBezTo>
                    <a:pt x="6881" y="2127621"/>
                    <a:pt x="0" y="2111008"/>
                    <a:pt x="0" y="2093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EEE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4445000" cy="215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SQL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QUERY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667750" y="5048250"/>
            <a:ext cx="762000" cy="0"/>
          </a:xfrm>
          <a:prstGeom prst="line">
            <a:avLst/>
          </a:prstGeom>
          <a:ln cap="rnd" w="38100">
            <a:solidFill>
              <a:srgbClr val="6C4C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9572625" y="4238625"/>
            <a:ext cx="3333750" cy="1619250"/>
            <a:chOff x="0" y="0"/>
            <a:chExt cx="4445000" cy="2159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45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093686"/>
                  </a:lnTo>
                  <a:cubicBezTo>
                    <a:pt x="4445000" y="2111008"/>
                    <a:pt x="4438119" y="2127621"/>
                    <a:pt x="4425870" y="2139870"/>
                  </a:cubicBezTo>
                  <a:cubicBezTo>
                    <a:pt x="4413621" y="2152119"/>
                    <a:pt x="4397008" y="2159000"/>
                    <a:pt x="4379686" y="2159000"/>
                  </a:cubicBezTo>
                  <a:lnTo>
                    <a:pt x="65314" y="2159000"/>
                  </a:lnTo>
                  <a:cubicBezTo>
                    <a:pt x="47992" y="2159000"/>
                    <a:pt x="31379" y="2152119"/>
                    <a:pt x="19130" y="2139870"/>
                  </a:cubicBezTo>
                  <a:cubicBezTo>
                    <a:pt x="6881" y="2127621"/>
                    <a:pt x="0" y="2111008"/>
                    <a:pt x="0" y="2093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EEE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445000" cy="215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7213B"/>
                  </a:solidFill>
                  <a:latin typeface="Lato Bold"/>
                  <a:ea typeface="Lato Bold"/>
                  <a:cs typeface="Lato Bold"/>
                  <a:sym typeface="Lato Bold"/>
                </a:rPr>
                <a:t>RESULT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3001625" y="5048250"/>
            <a:ext cx="762000" cy="0"/>
          </a:xfrm>
          <a:prstGeom prst="line">
            <a:avLst/>
          </a:prstGeom>
          <a:ln cap="rnd" w="38100">
            <a:solidFill>
              <a:srgbClr val="6C4C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13906500" y="4238625"/>
            <a:ext cx="3333750" cy="1619250"/>
            <a:chOff x="0" y="0"/>
            <a:chExt cx="4445000" cy="2159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093686"/>
                  </a:lnTo>
                  <a:cubicBezTo>
                    <a:pt x="4445000" y="2111008"/>
                    <a:pt x="4438119" y="2127621"/>
                    <a:pt x="4425870" y="2139870"/>
                  </a:cubicBezTo>
                  <a:cubicBezTo>
                    <a:pt x="4413621" y="2152119"/>
                    <a:pt x="4397008" y="2159000"/>
                    <a:pt x="4379686" y="2159000"/>
                  </a:cubicBezTo>
                  <a:lnTo>
                    <a:pt x="65314" y="2159000"/>
                  </a:lnTo>
                  <a:cubicBezTo>
                    <a:pt x="47992" y="2159000"/>
                    <a:pt x="31379" y="2152119"/>
                    <a:pt x="19130" y="2139870"/>
                  </a:cubicBezTo>
                  <a:cubicBezTo>
                    <a:pt x="6881" y="2127621"/>
                    <a:pt x="0" y="2111008"/>
                    <a:pt x="0" y="2093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6C4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445000" cy="215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INSIGHT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52500" y="7772400"/>
            <a:ext cx="95250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D1B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 SQL queries designed to power the SkyBook dashboard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2500" y="8543925"/>
            <a:ext cx="142875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66728F"/>
                </a:solidFill>
                <a:latin typeface="Lato"/>
                <a:ea typeface="Lato"/>
                <a:cs typeface="Lato"/>
                <a:sym typeface="Lato"/>
              </a:rPr>
              <a:t>Airline booking volume  •  Popular routes  •  Booking status  •  Payment methods</a:t>
            </a:r>
          </a:p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66728F"/>
                </a:solidFill>
                <a:latin typeface="Lato"/>
                <a:ea typeface="Lato"/>
                <a:cs typeface="Lato"/>
                <a:sym typeface="Lato"/>
              </a:rPr>
              <a:t>Departure-city revenue  •  Average fare  •  Confirmation status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7250" y="9696450"/>
            <a:ext cx="8572500" cy="19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6C4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SKYBOOK  •  FLIGHT BOOKING &amp; REVENUE ANALYTICS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D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6197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9AA8FF"/>
                </a:solidFill>
                <a:latin typeface="Lato Bold"/>
                <a:ea typeface="Lato Bold"/>
                <a:cs typeface="Lato Bold"/>
                <a:sym typeface="Lato Bold"/>
              </a:rPr>
              <a:t>08 / CONNECTIVITY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0965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Cloud Data to Power BI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28650"/>
            <a:ext cx="76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9AA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09</a:t>
            </a:r>
          </a:p>
        </p:txBody>
      </p:sp>
      <p:sp>
        <p:nvSpPr>
          <p:cNvPr name="AutoShape 5" id="5"/>
          <p:cNvSpPr/>
          <p:nvPr/>
        </p:nvSpPr>
        <p:spPr>
          <a:xfrm>
            <a:off x="952500" y="1809750"/>
            <a:ext cx="16383000" cy="0"/>
          </a:xfrm>
          <a:prstGeom prst="line">
            <a:avLst/>
          </a:prstGeom>
          <a:ln cap="flat" w="19050">
            <a:solidFill>
              <a:srgbClr val="3443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809625" y="3238500"/>
            <a:ext cx="2714625" cy="1476375"/>
            <a:chOff x="0" y="0"/>
            <a:chExt cx="3619500" cy="196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5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3619500">
                  <a:moveTo>
                    <a:pt x="80211" y="0"/>
                  </a:moveTo>
                  <a:lnTo>
                    <a:pt x="3539289" y="0"/>
                  </a:lnTo>
                  <a:cubicBezTo>
                    <a:pt x="3560563" y="0"/>
                    <a:pt x="3580964" y="8451"/>
                    <a:pt x="3596007" y="23493"/>
                  </a:cubicBezTo>
                  <a:cubicBezTo>
                    <a:pt x="3611049" y="38536"/>
                    <a:pt x="3619500" y="58937"/>
                    <a:pt x="3619500" y="80211"/>
                  </a:cubicBezTo>
                  <a:lnTo>
                    <a:pt x="3619500" y="1888289"/>
                  </a:lnTo>
                  <a:cubicBezTo>
                    <a:pt x="3619500" y="1909563"/>
                    <a:pt x="3611049" y="1929965"/>
                    <a:pt x="3596007" y="1945007"/>
                  </a:cubicBezTo>
                  <a:cubicBezTo>
                    <a:pt x="3580964" y="1960049"/>
                    <a:pt x="3560563" y="1968500"/>
                    <a:pt x="3539289" y="1968500"/>
                  </a:cubicBezTo>
                  <a:lnTo>
                    <a:pt x="80211" y="1968500"/>
                  </a:lnTo>
                  <a:cubicBezTo>
                    <a:pt x="58937" y="1968500"/>
                    <a:pt x="38536" y="1960049"/>
                    <a:pt x="23493" y="1945007"/>
                  </a:cubicBezTo>
                  <a:cubicBezTo>
                    <a:pt x="8451" y="1929965"/>
                    <a:pt x="0" y="1909563"/>
                    <a:pt x="0" y="18882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19500" cy="196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AMAZON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ATHENA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3571875" y="3971925"/>
            <a:ext cx="619125" cy="0"/>
          </a:xfrm>
          <a:prstGeom prst="line">
            <a:avLst/>
          </a:prstGeom>
          <a:ln cap="rnd" w="38100">
            <a:solidFill>
              <a:srgbClr val="8FA7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4286250" y="3238500"/>
            <a:ext cx="2714625" cy="1476375"/>
            <a:chOff x="0" y="0"/>
            <a:chExt cx="3619500" cy="1968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195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3619500">
                  <a:moveTo>
                    <a:pt x="80211" y="0"/>
                  </a:moveTo>
                  <a:lnTo>
                    <a:pt x="3539289" y="0"/>
                  </a:lnTo>
                  <a:cubicBezTo>
                    <a:pt x="3560563" y="0"/>
                    <a:pt x="3580964" y="8451"/>
                    <a:pt x="3596007" y="23493"/>
                  </a:cubicBezTo>
                  <a:cubicBezTo>
                    <a:pt x="3611049" y="38536"/>
                    <a:pt x="3619500" y="58937"/>
                    <a:pt x="3619500" y="80211"/>
                  </a:cubicBezTo>
                  <a:lnTo>
                    <a:pt x="3619500" y="1888289"/>
                  </a:lnTo>
                  <a:cubicBezTo>
                    <a:pt x="3619500" y="1909563"/>
                    <a:pt x="3611049" y="1929965"/>
                    <a:pt x="3596007" y="1945007"/>
                  </a:cubicBezTo>
                  <a:cubicBezTo>
                    <a:pt x="3580964" y="1960049"/>
                    <a:pt x="3560563" y="1968500"/>
                    <a:pt x="3539289" y="1968500"/>
                  </a:cubicBezTo>
                  <a:lnTo>
                    <a:pt x="80211" y="1968500"/>
                  </a:lnTo>
                  <a:cubicBezTo>
                    <a:pt x="58937" y="1968500"/>
                    <a:pt x="38536" y="1960049"/>
                    <a:pt x="23493" y="1945007"/>
                  </a:cubicBezTo>
                  <a:cubicBezTo>
                    <a:pt x="8451" y="1929965"/>
                    <a:pt x="0" y="1909563"/>
                    <a:pt x="0" y="18882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6C4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619500" cy="196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ATHENA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ODBC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7048500" y="3971925"/>
            <a:ext cx="619125" cy="0"/>
          </a:xfrm>
          <a:prstGeom prst="line">
            <a:avLst/>
          </a:prstGeom>
          <a:ln cap="rnd" w="38100">
            <a:solidFill>
              <a:srgbClr val="8FA7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7762875" y="3238500"/>
            <a:ext cx="2714625" cy="1476375"/>
            <a:chOff x="0" y="0"/>
            <a:chExt cx="3619500" cy="196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195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3619500">
                  <a:moveTo>
                    <a:pt x="80211" y="0"/>
                  </a:moveTo>
                  <a:lnTo>
                    <a:pt x="3539289" y="0"/>
                  </a:lnTo>
                  <a:cubicBezTo>
                    <a:pt x="3560563" y="0"/>
                    <a:pt x="3580964" y="8451"/>
                    <a:pt x="3596007" y="23493"/>
                  </a:cubicBezTo>
                  <a:cubicBezTo>
                    <a:pt x="3611049" y="38536"/>
                    <a:pt x="3619500" y="58937"/>
                    <a:pt x="3619500" y="80211"/>
                  </a:cubicBezTo>
                  <a:lnTo>
                    <a:pt x="3619500" y="1888289"/>
                  </a:lnTo>
                  <a:cubicBezTo>
                    <a:pt x="3619500" y="1909563"/>
                    <a:pt x="3611049" y="1929965"/>
                    <a:pt x="3596007" y="1945007"/>
                  </a:cubicBezTo>
                  <a:cubicBezTo>
                    <a:pt x="3580964" y="1960049"/>
                    <a:pt x="3560563" y="1968500"/>
                    <a:pt x="3539289" y="1968500"/>
                  </a:cubicBezTo>
                  <a:lnTo>
                    <a:pt x="80211" y="1968500"/>
                  </a:lnTo>
                  <a:cubicBezTo>
                    <a:pt x="58937" y="1968500"/>
                    <a:pt x="38536" y="1960049"/>
                    <a:pt x="23493" y="1945007"/>
                  </a:cubicBezTo>
                  <a:cubicBezTo>
                    <a:pt x="8451" y="1929965"/>
                    <a:pt x="0" y="1909563"/>
                    <a:pt x="0" y="18882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3619500" cy="196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POWER BI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DESKTOP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0525125" y="3971925"/>
            <a:ext cx="619125" cy="0"/>
          </a:xfrm>
          <a:prstGeom prst="line">
            <a:avLst/>
          </a:prstGeom>
          <a:ln cap="rnd" w="38100">
            <a:solidFill>
              <a:srgbClr val="8FA7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1239500" y="3238500"/>
            <a:ext cx="2714625" cy="1476375"/>
            <a:chOff x="0" y="0"/>
            <a:chExt cx="3619500" cy="1968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195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3619500">
                  <a:moveTo>
                    <a:pt x="80211" y="0"/>
                  </a:moveTo>
                  <a:lnTo>
                    <a:pt x="3539289" y="0"/>
                  </a:lnTo>
                  <a:cubicBezTo>
                    <a:pt x="3560563" y="0"/>
                    <a:pt x="3580964" y="8451"/>
                    <a:pt x="3596007" y="23493"/>
                  </a:cubicBezTo>
                  <a:cubicBezTo>
                    <a:pt x="3611049" y="38536"/>
                    <a:pt x="3619500" y="58937"/>
                    <a:pt x="3619500" y="80211"/>
                  </a:cubicBezTo>
                  <a:lnTo>
                    <a:pt x="3619500" y="1888289"/>
                  </a:lnTo>
                  <a:cubicBezTo>
                    <a:pt x="3619500" y="1909563"/>
                    <a:pt x="3611049" y="1929965"/>
                    <a:pt x="3596007" y="1945007"/>
                  </a:cubicBezTo>
                  <a:cubicBezTo>
                    <a:pt x="3580964" y="1960049"/>
                    <a:pt x="3560563" y="1968500"/>
                    <a:pt x="3539289" y="1968500"/>
                  </a:cubicBezTo>
                  <a:lnTo>
                    <a:pt x="80211" y="1968500"/>
                  </a:lnTo>
                  <a:cubicBezTo>
                    <a:pt x="58937" y="1968500"/>
                    <a:pt x="38536" y="1960049"/>
                    <a:pt x="23493" y="1945007"/>
                  </a:cubicBezTo>
                  <a:cubicBezTo>
                    <a:pt x="8451" y="1929965"/>
                    <a:pt x="0" y="1909563"/>
                    <a:pt x="0" y="18882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619500" cy="196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POWER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QUERY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4001750" y="3971925"/>
            <a:ext cx="619125" cy="0"/>
          </a:xfrm>
          <a:prstGeom prst="line">
            <a:avLst/>
          </a:prstGeom>
          <a:ln cap="rnd" w="38100">
            <a:solidFill>
              <a:srgbClr val="8FA7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14716125" y="3238500"/>
            <a:ext cx="2714625" cy="1476375"/>
            <a:chOff x="0" y="0"/>
            <a:chExt cx="3619500" cy="1968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195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3619500">
                  <a:moveTo>
                    <a:pt x="80211" y="0"/>
                  </a:moveTo>
                  <a:lnTo>
                    <a:pt x="3539289" y="0"/>
                  </a:lnTo>
                  <a:cubicBezTo>
                    <a:pt x="3560563" y="0"/>
                    <a:pt x="3580964" y="8451"/>
                    <a:pt x="3596007" y="23493"/>
                  </a:cubicBezTo>
                  <a:cubicBezTo>
                    <a:pt x="3611049" y="38536"/>
                    <a:pt x="3619500" y="58937"/>
                    <a:pt x="3619500" y="80211"/>
                  </a:cubicBezTo>
                  <a:lnTo>
                    <a:pt x="3619500" y="1888289"/>
                  </a:lnTo>
                  <a:cubicBezTo>
                    <a:pt x="3619500" y="1909563"/>
                    <a:pt x="3611049" y="1929965"/>
                    <a:pt x="3596007" y="1945007"/>
                  </a:cubicBezTo>
                  <a:cubicBezTo>
                    <a:pt x="3580964" y="1960049"/>
                    <a:pt x="3560563" y="1968500"/>
                    <a:pt x="3539289" y="1968500"/>
                  </a:cubicBezTo>
                  <a:lnTo>
                    <a:pt x="80211" y="1968500"/>
                  </a:lnTo>
                  <a:cubicBezTo>
                    <a:pt x="58937" y="1968500"/>
                    <a:pt x="38536" y="1960049"/>
                    <a:pt x="23493" y="1945007"/>
                  </a:cubicBezTo>
                  <a:cubicBezTo>
                    <a:pt x="8451" y="1929965"/>
                    <a:pt x="0" y="1909563"/>
                    <a:pt x="0" y="18882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1A2B52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3619500" cy="196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POWER BI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DATA MODEL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57250" y="5667375"/>
            <a:ext cx="371475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spc="243" b="true">
                <a:solidFill>
                  <a:srgbClr val="55D8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ATHENA ODBC</a:t>
            </a:r>
          </a:p>
          <a:p>
            <a:pPr algn="l">
              <a:lnSpc>
                <a:spcPts val="2835"/>
              </a:lnSpc>
            </a:pPr>
            <a:r>
              <a:rPr lang="en-US" sz="2025" spc="243" b="true">
                <a:solidFill>
                  <a:srgbClr val="55D8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Connectivity bridge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34000" y="5591175"/>
            <a:ext cx="990600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AEBBD2"/>
                </a:solidFill>
                <a:latin typeface="Montserrat"/>
                <a:ea typeface="Montserrat"/>
                <a:cs typeface="Montserrat"/>
                <a:sym typeface="Montserrat"/>
              </a:rPr>
              <a:t>POWER QUERY TASKS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AEBBD2"/>
                </a:solidFill>
                <a:latin typeface="Montserrat"/>
                <a:ea typeface="Montserrat"/>
                <a:cs typeface="Montserrat"/>
                <a:sym typeface="Montserrat"/>
              </a:rPr>
              <a:t>Validate data types • check fields • prepare date • standardize values • ready data for reporting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57250" y="969645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55D8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SKYBOOK  •  FLIGHT BOOKING &amp; REVENUE ANALYTICS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6197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6C4CFF"/>
                </a:solidFill>
                <a:latin typeface="Lato Bold"/>
                <a:ea typeface="Lato Bold"/>
                <a:cs typeface="Lato Bold"/>
                <a:sym typeface="Lato Bold"/>
              </a:rPr>
              <a:t>09 / DASHBOARD STORY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0965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721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Flight Booking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28650"/>
            <a:ext cx="762000" cy="26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6C4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</a:t>
            </a:r>
          </a:p>
        </p:txBody>
      </p:sp>
      <p:sp>
        <p:nvSpPr>
          <p:cNvPr name="AutoShape 5" id="5"/>
          <p:cNvSpPr/>
          <p:nvPr/>
        </p:nvSpPr>
        <p:spPr>
          <a:xfrm>
            <a:off x="952500" y="1809750"/>
            <a:ext cx="16383000" cy="0"/>
          </a:xfrm>
          <a:prstGeom prst="line">
            <a:avLst/>
          </a:prstGeom>
          <a:ln cap="flat" w="19050">
            <a:solidFill>
              <a:srgbClr val="D8DE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52500" y="2047875"/>
            <a:ext cx="85725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6C4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happening with overall flight bookings?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9959" y="1991194"/>
            <a:ext cx="12493082" cy="7352362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12573000" y="6667500"/>
            <a:ext cx="4762500" cy="1809750"/>
            <a:chOff x="0" y="0"/>
            <a:chExt cx="6350000" cy="241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0D1B3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350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049250" y="7000875"/>
            <a:ext cx="40957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1 ANSWERS</a:t>
            </a:r>
          </a:p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HAPPENING?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9020175"/>
            <a:ext cx="1333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66728F"/>
                </a:solidFill>
                <a:latin typeface="Lato"/>
                <a:ea typeface="Lato"/>
                <a:cs typeface="Lato"/>
                <a:sym typeface="Lato"/>
              </a:rPr>
              <a:t>FILTERS  Airline  •  Booking Status  •  Departure City  •  Flight Date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7250" y="9696450"/>
            <a:ext cx="8572500" cy="19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6C4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SKYBOOK  •  FLIGHT BOOKING &amp; REVENUE ANALYTICS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6197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6C4CFF"/>
                </a:solidFill>
                <a:latin typeface="Lato Bold"/>
                <a:ea typeface="Lato Bold"/>
                <a:cs typeface="Lato Bold"/>
                <a:sym typeface="Lato Bold"/>
              </a:rPr>
              <a:t>10 / DASHBOARD STORY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0965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721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&amp; Booking Analytics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28650"/>
            <a:ext cx="762000" cy="26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6C4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11</a:t>
            </a:r>
          </a:p>
        </p:txBody>
      </p:sp>
      <p:sp>
        <p:nvSpPr>
          <p:cNvPr name="AutoShape 5" id="5"/>
          <p:cNvSpPr/>
          <p:nvPr/>
        </p:nvSpPr>
        <p:spPr>
          <a:xfrm>
            <a:off x="952500" y="1809750"/>
            <a:ext cx="16383000" cy="0"/>
          </a:xfrm>
          <a:prstGeom prst="line">
            <a:avLst/>
          </a:prstGeom>
          <a:ln cap="flat" w="19050">
            <a:solidFill>
              <a:srgbClr val="D8DE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52500" y="2047875"/>
            <a:ext cx="1000125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6C4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is the booking and revenue performance coming from?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9959" y="1986431"/>
            <a:ext cx="12493082" cy="7361888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12382500" y="6477000"/>
            <a:ext cx="4953000" cy="2190750"/>
            <a:chOff x="0" y="0"/>
            <a:chExt cx="6604000" cy="292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6C4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604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858750" y="6762750"/>
            <a:ext cx="43815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2 ANSWERS</a:t>
            </a:r>
          </a:p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IS PERFORMANCE</a:t>
            </a:r>
          </a:p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COMING FROM?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8924925"/>
            <a:ext cx="1428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66728F"/>
                </a:solidFill>
                <a:latin typeface="Lato"/>
                <a:ea typeface="Lato"/>
                <a:cs typeface="Lato"/>
                <a:sym typeface="Lato"/>
              </a:rPr>
              <a:t>Fare  →  Booking outcomes  →  Revenue  →  City performance  →  Airline &amp; route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7250" y="9696450"/>
            <a:ext cx="8572500" cy="19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6C4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SKYBOOK  •  FLIGHT BOOKING &amp; REVENUE ANALYTICS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5191" y="1028700"/>
            <a:ext cx="16496311" cy="9119270"/>
            <a:chOff x="0" y="0"/>
            <a:chExt cx="4697667" cy="25969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97668" cy="2596902"/>
            </a:xfrm>
            <a:custGeom>
              <a:avLst/>
              <a:gdLst/>
              <a:ahLst/>
              <a:cxnLst/>
              <a:rect r="r" b="b" t="t" l="l"/>
              <a:pathLst>
                <a:path h="2596902" w="4697668">
                  <a:moveTo>
                    <a:pt x="0" y="0"/>
                  </a:moveTo>
                  <a:lnTo>
                    <a:pt x="4697668" y="0"/>
                  </a:lnTo>
                  <a:lnTo>
                    <a:pt x="4697668" y="2596902"/>
                  </a:lnTo>
                  <a:lnTo>
                    <a:pt x="0" y="2596902"/>
                  </a:lnTo>
                  <a:close/>
                </a:path>
              </a:pathLst>
            </a:custGeom>
            <a:blipFill>
              <a:blip r:embed="rId2"/>
              <a:stretch>
                <a:fillRect l="0" t="-450" r="0" b="-45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391658" y="235183"/>
            <a:ext cx="7984807" cy="642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E11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Flight Booking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5191" y="149458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E114F4"/>
                </a:solidFill>
                <a:latin typeface="Lato Bold"/>
                <a:ea typeface="Lato Bold"/>
                <a:cs typeface="Lato Bold"/>
                <a:sym typeface="Lato Bold"/>
              </a:rPr>
              <a:t>11 / DASHBOARD LIGHT MODE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78300" y="229454"/>
            <a:ext cx="762000" cy="26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E11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9083772"/>
            <a:chOff x="0" y="0"/>
            <a:chExt cx="4651477" cy="2603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51477" cy="2603290"/>
            </a:xfrm>
            <a:custGeom>
              <a:avLst/>
              <a:gdLst/>
              <a:ahLst/>
              <a:cxnLst/>
              <a:rect r="r" b="b" t="t" l="l"/>
              <a:pathLst>
                <a:path h="2603290" w="4651477">
                  <a:moveTo>
                    <a:pt x="0" y="0"/>
                  </a:moveTo>
                  <a:lnTo>
                    <a:pt x="4651477" y="0"/>
                  </a:lnTo>
                  <a:lnTo>
                    <a:pt x="4651477" y="2603290"/>
                  </a:lnTo>
                  <a:lnTo>
                    <a:pt x="0" y="2603290"/>
                  </a:lnTo>
                  <a:close/>
                </a:path>
              </a:pathLst>
            </a:custGeom>
            <a:blipFill>
              <a:blip r:embed="rId2"/>
              <a:stretch>
                <a:fillRect l="0" t="-510" r="0" b="-51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289220" y="244985"/>
            <a:ext cx="11136154" cy="642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DF18F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&amp; Booking Analytics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59260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E114F4"/>
                </a:solidFill>
                <a:latin typeface="Lato Bold"/>
                <a:ea typeface="Lato Bold"/>
                <a:cs typeface="Lato Bold"/>
                <a:sym typeface="Lato Bold"/>
              </a:rPr>
              <a:t>12 / DASHBOARD LIGHT MODE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30700" y="239255"/>
            <a:ext cx="762000" cy="26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E11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719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9106944"/>
            <a:chOff x="0" y="0"/>
            <a:chExt cx="4651477" cy="26099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51477" cy="2609931"/>
            </a:xfrm>
            <a:custGeom>
              <a:avLst/>
              <a:gdLst/>
              <a:ahLst/>
              <a:cxnLst/>
              <a:rect r="r" b="b" t="t" l="l"/>
              <a:pathLst>
                <a:path h="2609931" w="4651477">
                  <a:moveTo>
                    <a:pt x="0" y="0"/>
                  </a:moveTo>
                  <a:lnTo>
                    <a:pt x="4651477" y="0"/>
                  </a:lnTo>
                  <a:lnTo>
                    <a:pt x="4651477" y="2609931"/>
                  </a:lnTo>
                  <a:lnTo>
                    <a:pt x="0" y="2609931"/>
                  </a:lnTo>
                  <a:close/>
                </a:path>
              </a:pathLst>
            </a:custGeom>
            <a:blipFill>
              <a:blip r:embed="rId2"/>
              <a:stretch>
                <a:fillRect l="-97" t="0" r="-9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047324" y="225382"/>
            <a:ext cx="8193352" cy="642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E726F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Flight Booking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39657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E114F4"/>
                </a:solidFill>
                <a:latin typeface="Lato Bold"/>
                <a:ea typeface="Lato Bold"/>
                <a:cs typeface="Lato Bold"/>
                <a:sym typeface="Lato Bold"/>
              </a:rPr>
              <a:t>13 / DASHBOARD DARK MODE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20898" y="219652"/>
            <a:ext cx="762000" cy="26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E11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618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9083772"/>
            <a:chOff x="0" y="0"/>
            <a:chExt cx="4651477" cy="2603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51477" cy="2603290"/>
            </a:xfrm>
            <a:custGeom>
              <a:avLst/>
              <a:gdLst/>
              <a:ahLst/>
              <a:cxnLst/>
              <a:rect r="r" b="b" t="t" l="l"/>
              <a:pathLst>
                <a:path h="2603290" w="4651477">
                  <a:moveTo>
                    <a:pt x="0" y="0"/>
                  </a:moveTo>
                  <a:lnTo>
                    <a:pt x="4651477" y="0"/>
                  </a:lnTo>
                  <a:lnTo>
                    <a:pt x="4651477" y="2603290"/>
                  </a:lnTo>
                  <a:lnTo>
                    <a:pt x="0" y="260329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626993" y="212012"/>
            <a:ext cx="11136154" cy="642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E616F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&amp; Booking Analytics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26287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E114F4"/>
                </a:solidFill>
                <a:latin typeface="Lato Bold"/>
                <a:ea typeface="Lato Bold"/>
                <a:cs typeface="Lato Bold"/>
                <a:sym typeface="Lato Bold"/>
              </a:rPr>
              <a:t>14 / DASHBOARD DARK MODE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206282"/>
            <a:ext cx="762000" cy="26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E11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6197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6C4CFF"/>
                </a:solidFill>
                <a:latin typeface="Lato Bold"/>
                <a:ea typeface="Lato Bold"/>
                <a:cs typeface="Lato Bold"/>
                <a:sym typeface="Lato Bold"/>
              </a:rPr>
              <a:t>15 / VALUE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0965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721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Benefits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28650"/>
            <a:ext cx="762000" cy="26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6C4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16</a:t>
            </a:r>
          </a:p>
        </p:txBody>
      </p:sp>
      <p:sp>
        <p:nvSpPr>
          <p:cNvPr name="AutoShape 5" id="5"/>
          <p:cNvSpPr/>
          <p:nvPr/>
        </p:nvSpPr>
        <p:spPr>
          <a:xfrm>
            <a:off x="952500" y="1809750"/>
            <a:ext cx="16383000" cy="0"/>
          </a:xfrm>
          <a:prstGeom prst="line">
            <a:avLst/>
          </a:prstGeom>
          <a:ln cap="flat" w="19050">
            <a:solidFill>
              <a:srgbClr val="D8DE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52500" y="2381250"/>
            <a:ext cx="4953000" cy="1476375"/>
            <a:chOff x="0" y="0"/>
            <a:chExt cx="6604000" cy="196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EEE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604000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77000" y="2381250"/>
            <a:ext cx="4953000" cy="1476375"/>
            <a:chOff x="0" y="0"/>
            <a:chExt cx="6604000" cy="196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04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EEE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604000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01500" y="2381250"/>
            <a:ext cx="4953000" cy="1476375"/>
            <a:chOff x="0" y="0"/>
            <a:chExt cx="6604000" cy="196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04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EEEA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604000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2500" y="4381500"/>
            <a:ext cx="4953000" cy="1476375"/>
            <a:chOff x="0" y="0"/>
            <a:chExt cx="6604000" cy="1968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04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E2A9F1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604000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77000" y="4381500"/>
            <a:ext cx="4953000" cy="1476375"/>
            <a:chOff x="0" y="0"/>
            <a:chExt cx="6604000" cy="1968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4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E2A9F1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604000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001500" y="4381500"/>
            <a:ext cx="4953000" cy="1476375"/>
            <a:chOff x="0" y="0"/>
            <a:chExt cx="6604000" cy="1968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04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E2A9F1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604000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2500" y="6381750"/>
            <a:ext cx="4953000" cy="1476375"/>
            <a:chOff x="0" y="0"/>
            <a:chExt cx="6604000" cy="1968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04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CB6C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604000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77000" y="6381750"/>
            <a:ext cx="4953000" cy="1476375"/>
            <a:chOff x="0" y="0"/>
            <a:chExt cx="6604000" cy="1968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04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CB6C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604000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001500" y="6381750"/>
            <a:ext cx="4953000" cy="1476375"/>
            <a:chOff x="0" y="0"/>
            <a:chExt cx="6604000" cy="1968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604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CB6CE6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604000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85875" y="2800350"/>
            <a:ext cx="428625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1721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  Complete cloud-to-dashboard workflow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10375" y="2800350"/>
            <a:ext cx="4286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1721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  Cloud-based flight data storage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34875" y="2800350"/>
            <a:ext cx="4286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1721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  Automated schema discovery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5875" y="4800600"/>
            <a:ext cx="4286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1721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  SQL analysis with Athena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10375" y="4800600"/>
            <a:ext cx="4286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1721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  Reduced raw-data inspection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34875" y="4800600"/>
            <a:ext cx="4286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1721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  Interactive Power BI filtering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5875" y="6800850"/>
            <a:ext cx="428625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1721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  Compare airlines, routes and cities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810375" y="6800850"/>
            <a:ext cx="4286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1721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  Faster booking &amp; revenue insight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334875" y="6800850"/>
            <a:ext cx="4286250" cy="603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09  Scalable workflow for larger datasets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000500" y="8820150"/>
            <a:ext cx="102870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6C4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raw data to meaningful business insight.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57250" y="9696450"/>
            <a:ext cx="8572500" cy="19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6C4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SKYBOOK  •  FLIGHT BOOKING &amp; REVENUE ANALYTICS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D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6197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9AA8FF"/>
                </a:solidFill>
                <a:latin typeface="Lato Bold"/>
                <a:ea typeface="Lato Bold"/>
                <a:cs typeface="Lato Bold"/>
                <a:sym typeface="Lato Bold"/>
              </a:rPr>
              <a:t>16 / CLOSING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00965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connected analytics story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28650"/>
            <a:ext cx="762000" cy="26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9AA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17</a:t>
            </a:r>
          </a:p>
        </p:txBody>
      </p:sp>
      <p:sp>
        <p:nvSpPr>
          <p:cNvPr name="AutoShape 5" id="5"/>
          <p:cNvSpPr/>
          <p:nvPr/>
        </p:nvSpPr>
        <p:spPr>
          <a:xfrm>
            <a:off x="952500" y="1809750"/>
            <a:ext cx="16383000" cy="0"/>
          </a:xfrm>
          <a:prstGeom prst="line">
            <a:avLst/>
          </a:prstGeom>
          <a:ln cap="flat" w="19050">
            <a:solidFill>
              <a:srgbClr val="3443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52500" y="2190750"/>
            <a:ext cx="11430000" cy="66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DCE5FF"/>
                </a:solidFill>
                <a:latin typeface="Lato"/>
                <a:ea typeface="Lato"/>
                <a:cs typeface="Lato"/>
                <a:sym typeface="Lato"/>
              </a:rPr>
              <a:t>SkyBook integrates cloud services, SQL, data preparation and business intelligence into one practical solution.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3962400"/>
            <a:ext cx="157162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9AA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S3  →  IAM  →  AWS Glue  →  Data Catalog  →  Athena  →  SQL  →  ODBC  →  Power Query  →  DAX  →  Power BI</a:t>
            </a:r>
          </a:p>
        </p:txBody>
      </p:sp>
      <p:sp>
        <p:nvSpPr>
          <p:cNvPr name="AutoShape 8" id="8"/>
          <p:cNvSpPr/>
          <p:nvPr/>
        </p:nvSpPr>
        <p:spPr>
          <a:xfrm>
            <a:off x="12382500" y="2857500"/>
            <a:ext cx="4286250" cy="3810000"/>
          </a:xfrm>
          <a:prstGeom prst="line">
            <a:avLst/>
          </a:prstGeom>
          <a:ln cap="rnd" w="38100">
            <a:solidFill>
              <a:srgbClr val="8FA7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16097250" y="6286500"/>
            <a:ext cx="666750" cy="666750"/>
            <a:chOff x="0" y="0"/>
            <a:chExt cx="889000" cy="889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6C4C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52500" y="5819775"/>
            <a:ext cx="12858750" cy="951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5"/>
              </a:lnSpc>
            </a:pPr>
            <a:r>
              <a:rPr lang="en-US" sz="32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“SkyBook does not just show data —</a:t>
            </a:r>
          </a:p>
          <a:p>
            <a:pPr algn="l">
              <a:lnSpc>
                <a:spcPts val="3805"/>
              </a:lnSpc>
            </a:pPr>
            <a:r>
              <a:rPr lang="en-US" sz="32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 helps us understand what the data is telling us.”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8496300"/>
            <a:ext cx="762000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0"/>
              </a:lnSpc>
            </a:pPr>
            <a:r>
              <a:rPr lang="en-US" sz="4350" spc="347" b="true">
                <a:solidFill>
                  <a:srgbClr val="6C4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DAHVAQk7SI8</dc:identifier>
  <dcterms:modified xsi:type="dcterms:W3CDTF">2011-08-01T06:04:30Z</dcterms:modified>
  <cp:revision>1</cp:revision>
  <dc:title>Flight_Project_Ppt</dc:title>
</cp:coreProperties>
</file>